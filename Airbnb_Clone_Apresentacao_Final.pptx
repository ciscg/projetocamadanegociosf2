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— CAPA (0:00–0:30)</a:t>
            </a:r>
          </a:p>
          <a:p>
            <a:r>
              <a:t>Membro 1 apresenta o grupo e anuncia o projeto.</a:t>
            </a:r>
          </a:p>
          <a:p>
            <a:r>
              <a:t>Frase de abertura sugerida: 'Desenvolvemos um clone didático do Airbnb aplicando todas as camadas de negócio estudadas em aula.'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— ROTEIRO (0:30–1:00)</a:t>
            </a:r>
          </a:p>
          <a:p>
            <a:r>
              <a:t>Membro 1 apresenta brevemente a divisão de tempo.</a:t>
            </a:r>
          </a:p>
          <a:p>
            <a:r>
              <a:t>Dica: mostrar este slide no início para orientar a banca.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— PROPOSTA vs FINAL (1:00–2:00)</a:t>
            </a:r>
          </a:p>
          <a:p>
            <a:r>
              <a:t>Membro 1 destaca as adições além da proposta original.</a:t>
            </a:r>
          </a:p>
          <a:p>
            <a:r>
              <a:t>Enfatizar: Frontend React e CLI não estavam na proposta inicial — foram adições do grupo.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— ARQUITETURA (2:00–3:30)</a:t>
            </a:r>
          </a:p>
          <a:p>
            <a:r>
              <a:t>Membro 1 explica o fluxo de dados: browser → React → REST API → Spring Boot → MongoDB.</a:t>
            </a:r>
          </a:p>
          <a:p>
            <a:r>
              <a:t>Destacar padrão MVC e separação de camadas.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— REQUISITOS JAVA (3:30–4:30)</a:t>
            </a:r>
          </a:p>
          <a:p>
            <a:r>
              <a:t>Membro 2 apresenta cada requisito brevemente.</a:t>
            </a:r>
          </a:p>
          <a:p>
            <a:r>
              <a:t>Dica: mencionar onde cada um aparece no código (ex: ReservaService para Streams).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— DEMO LOGIN/BUSCA (4:30–5:30)</a:t>
            </a:r>
          </a:p>
          <a:p>
            <a:r>
              <a:t>Membro 2 faz o login ao vivo com carlos@email.com / 123456.</a:t>
            </a:r>
          </a:p>
          <a:p>
            <a:r>
              <a:t>Mostrar busca por cidade e filtro de preço na interface React.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 — DEMO RESERVAS/DASHBOARD (5:30–6:30)</a:t>
            </a:r>
          </a:p>
          <a:p>
            <a:r>
              <a:t>Membro 2 demonstra ao vivo a criação de reserva com conflito de datas.</a:t>
            </a:r>
          </a:p>
          <a:p>
            <a:r>
              <a:t>Mostrar mensagem de erro quando datas se sobrepõem.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 — ESTRUTURA DO CÓDIGO (6:30–7:00)</a:t>
            </a:r>
          </a:p>
          <a:p>
            <a:r>
              <a:t>Membro 2 finaliza mostrando a organização de pacotes.</a:t>
            </a:r>
          </a:p>
          <a:p>
            <a:r>
              <a:t>Passagem para Membro 3 que apresentará resultados e conclusão.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 — RELATÓRIOS/CLI (7:00–7:45)</a:t>
            </a:r>
          </a:p>
          <a:p>
            <a:r>
              <a:t>Membro 3 demonstra a geração de relatório XML clicando no endpoint no navegador.</a:t>
            </a:r>
          </a:p>
          <a:p>
            <a:r>
              <a:t>Opcional: mostrar CLI no terminal.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 — RESULTADOS (7:45–8:30)</a:t>
            </a:r>
          </a:p>
          <a:p>
            <a:r>
              <a:t>Membro 3 apresenta os números do projeto.</a:t>
            </a:r>
          </a:p>
          <a:p>
            <a:r>
              <a:t>Destacar que todos os requisitos da disciplina foram implementados.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 — APRENDIZADOS (8:30–9:15)</a:t>
            </a:r>
          </a:p>
          <a:p>
            <a:r>
              <a:t>Membro 3 apresenta brevemente os principais aprendizados.</a:t>
            </a:r>
          </a:p>
          <a:p>
            <a:r>
              <a:t>Menção honesta às dificuldades mostra maturidade técnica para a banca.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 — CONCLUSÃO (9:15–10:00)</a:t>
            </a:r>
          </a:p>
          <a:p>
            <a:r>
              <a:t>Membro 3 encerra a apresentação.</a:t>
            </a:r>
          </a:p>
          <a:p>
            <a:r>
              <a:t>Deixar 45 segundos para perguntas da banca se houver tempo.</a:t>
            </a:r>
          </a:p>
          <a:p>
            <a:r>
              <a:t>CHECKLIST PRÉ-APRESENTAÇÃO:</a:t>
            </a:r>
          </a:p>
          <a:p>
            <a:r>
              <a:t>□ Servidor MongoDB rodando (docker run ...)</a:t>
            </a:r>
          </a:p>
          <a:p>
            <a:r>
              <a:t>□ Backend rodando em localhost:5000</a:t>
            </a:r>
          </a:p>
          <a:p>
            <a:r>
              <a:t>□ Frontend rodando em localhost:5173</a:t>
            </a:r>
          </a:p>
          <a:p>
            <a:r>
              <a:t>□ Navegador aberto em http://localhost:5173</a:t>
            </a:r>
          </a:p>
          <a:p>
            <a:r>
              <a:t>□ Credenciais anotadas: carlos@email.com / 123456</a:t>
            </a:r>
          </a:p>
          <a:p>
            <a:r>
              <a:t>□ Terminal aberto com start-cli.bat pronto</a:t>
            </a:r>
          </a:p>
          <a:p>
            <a:r>
              <a:t>□ Relatório XML testado: http://localhost:5000/api/reservas/relatorio/xml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097280"/>
            <a:ext cx="9445752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0" y="128016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222222"/>
                </a:solidFill>
              </a:rPr>
              <a:t>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28600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5657"/>
                </a:solidFill>
              </a:rPr>
              <a:t>Airbnb Clone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310896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48484A"/>
                </a:solidFill>
              </a:rPr>
              <a:t>Plataforma de Aluguel de Imóveis por Temporada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657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17171"/>
                </a:solidFill>
              </a:rPr>
              <a:t>Spring Boot 3.2.5  •  MongoDB  •  React 19  •  Java 17+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41605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717171"/>
                </a:solidFill>
              </a:rPr>
              <a:t>Camada de Negócios  |  Apresentação Final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754880"/>
            <a:ext cx="9445752" cy="640080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800600"/>
            <a:ext cx="94457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Membro 1  •  Membro 2  •  Membro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Roteiro da Apresentação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CCCC"/>
                </a:solidFill>
              </a:rPr>
              <a:t>10 minutos · 3 membros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3657600" cy="438912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👤 Membro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402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⏱ 0:30 – 3:30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347472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7432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Slide 1–4: Visão geral, arquitetura,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2461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proposta inicial vs final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600200"/>
            <a:ext cx="3657600" cy="4389120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6916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👤 Membro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2402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⏱ 3:30 – 7:00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2651760"/>
            <a:ext cx="347472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27432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Slide 5–8: Requisitos Java,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2461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demo ao vivo, API REST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600200"/>
            <a:ext cx="3657600" cy="4389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16916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�� Membro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2402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⏱ 7:00 – 10:00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2651760"/>
            <a:ext cx="347472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27432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Slide 9–12: Relatórios, resultados,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32461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aprendizados, conclusão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Proposta Inicial  vs  Projeto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CCCC"/>
                </a:solidFill>
              </a:rPr>
              <a:t>Evolução do escopo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00200"/>
            <a:ext cx="5394960" cy="4480560"/>
          </a:xfrm>
          <a:prstGeom prst="rect">
            <a:avLst/>
          </a:prstGeom>
          <a:solidFill>
            <a:srgbClr val="FF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0" y="1600200"/>
            <a:ext cx="5943600" cy="4480560"/>
          </a:xfrm>
          <a:prstGeom prst="rect">
            <a:avLst/>
          </a:prstGeom>
          <a:solidFill>
            <a:srgbClr val="E8F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5657"/>
                </a:solidFill>
              </a:rPr>
              <a:t>📋 Proposta Inicial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60020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8B57"/>
                </a:solidFill>
              </a:rPr>
              <a:t>✅ Projeto Final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24028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8484A"/>
                </a:solidFill>
              </a:rPr>
              <a:t>◦ CRUD de imóveis e hóspedes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224028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6B3A"/>
                </a:solidFill>
              </a:rPr>
              <a:t>✓ CRUD completo + validações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67004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8484A"/>
                </a:solidFill>
              </a:rPr>
              <a:t>◦ Login básico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2670048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6B3A"/>
                </a:solidFill>
              </a:rPr>
              <a:t>✓ Login bcrypt + perfis (hóspede/anfitrião/ambos)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0998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8484A"/>
                </a:solidFill>
              </a:rPr>
              <a:t>◦ Reservas simples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3099816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6B3A"/>
                </a:solidFill>
              </a:rPr>
              <a:t>✓ Reservas com conflito de datas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52958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8484A"/>
                </a:solidFill>
              </a:rPr>
              <a:t>◦ Backend Java com MongoDB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529584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6B3A"/>
                </a:solidFill>
              </a:rPr>
              <a:t>✓ Spring Boot 3 + Annotations customizadas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395935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8484A"/>
                </a:solidFill>
              </a:rPr>
              <a:t>◦ — (sem relatórios)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3959352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6B3A"/>
                </a:solidFill>
              </a:rPr>
              <a:t>✓ Relatórios XML e TXT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38912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8484A"/>
                </a:solidFill>
              </a:rPr>
              <a:t>◦ — (sem CLI)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438912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6B3A"/>
                </a:solidFill>
              </a:rPr>
              <a:t>✓ CLI interativa (start-cli.bat)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81888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8484A"/>
                </a:solidFill>
              </a:rPr>
              <a:t>◦ — (sem frontend)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818888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6B3A"/>
                </a:solidFill>
              </a:rPr>
              <a:t>✓ Frontend React 19 + Tailwind CSS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Arquitetura do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CCCC"/>
                </a:solidFill>
              </a:rPr>
              <a:t>Camadas e tecnologias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474720" cy="411480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🌐 Frontend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329184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React 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0720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Vite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8269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Tailwind CSS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758183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Porta 5173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3337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48484A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645920"/>
            <a:ext cx="3474720" cy="4114800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7373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⚙️ Backend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2240280"/>
            <a:ext cx="329184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23317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Spring Boot 3.2.5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80720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Java 17+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28269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Maven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758183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Porta 5000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3337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48484A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1645920"/>
            <a:ext cx="3474720" cy="41148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17373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🗄️ Banco de Dados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2240280"/>
            <a:ext cx="329184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23317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MongoDB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280720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Docker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328269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airbnb_clone DB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3758183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Porta 27017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0350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8484A"/>
                </a:solidFill>
              </a:rPr>
              <a:t>Controllers  →  Services  →  Repositories  →  MongoDB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Requisitos Java Implementados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CCCC"/>
                </a:solidFill>
              </a:rPr>
              <a:t>Conteúdo técnico da disciplina — Membro 2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00200"/>
            <a:ext cx="5669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5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64592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5657"/>
                </a:solidFill>
              </a:rPr>
              <a:t>☕ Annotations Customizadas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039112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8484A"/>
                </a:solidFill>
              </a:rPr>
              <a:t>@ValidEmail, @UniqueEmail — validação declarativa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00200"/>
            <a:ext cx="5669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5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5657"/>
                </a:solidFill>
              </a:rPr>
              <a:t>🔍 Reflection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39112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8484A"/>
                </a:solidFill>
              </a:rPr>
              <a:t>Validação genérica de objetos em runtime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788920"/>
            <a:ext cx="5669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5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2834639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5657"/>
                </a:solidFill>
              </a:rPr>
              <a:t>📦 Collections Framework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3227832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8484A"/>
                </a:solidFill>
              </a:rPr>
              <a:t>List, Set, Map — manipulação de coleções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788920"/>
            <a:ext cx="5669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5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834639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5657"/>
                </a:solidFill>
              </a:rPr>
              <a:t>🔄 Streams &amp; Lambdas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227832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8484A"/>
                </a:solidFill>
              </a:rPr>
              <a:t>Processamento funcional de listas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977639"/>
            <a:ext cx="5669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5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4023359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5657"/>
                </a:solidFill>
              </a:rPr>
              <a:t>🏗️ Padrões de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" y="4416552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8484A"/>
                </a:solidFill>
              </a:rPr>
              <a:t>Repository, Service, DTO, Builder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977639"/>
            <a:ext cx="5669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5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023359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5657"/>
                </a:solidFill>
              </a:rPr>
              <a:t>⚠️ Exceções Customizadas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416552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8484A"/>
                </a:solidFill>
              </a:rPr>
              <a:t>ResourceNotFoundException, ConflictException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166360"/>
            <a:ext cx="5669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5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79" y="521208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5657"/>
                </a:solidFill>
              </a:rPr>
              <a:t>🔐 Serialização JSON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" y="5605272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8484A"/>
                </a:solidFill>
              </a:rPr>
              <a:t>Jackson ObjectMapper, @JsonProperty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5166360"/>
            <a:ext cx="5669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5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521208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5657"/>
                </a:solidFill>
              </a:rPr>
              <a:t>📄 Relatórios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5605272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8484A"/>
                </a:solidFill>
              </a:rPr>
              <a:t>Geração de arquivos XML e TXT via API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Demonstração Prática — Parte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CCCC"/>
                </a:solidFill>
              </a:rPr>
              <a:t>Login e Busca de Imóveis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00200"/>
            <a:ext cx="53035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84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8484A"/>
                </a:solidFill>
              </a:rPr>
              <a:t>🔐 Credenciais de Demo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40280"/>
            <a:ext cx="2468880" cy="36576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Email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2240280"/>
            <a:ext cx="1097280" cy="36576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22402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Senha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2240280"/>
            <a:ext cx="1371600" cy="36576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69080" y="2240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Perfil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51760"/>
            <a:ext cx="2468880" cy="38404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67004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8484A"/>
                </a:solidFill>
              </a:rPr>
              <a:t>carlos@email.com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2651760"/>
            <a:ext cx="1097280" cy="38404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1800" y="267004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8484A"/>
                </a:solidFill>
              </a:rPr>
              <a:t>123456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0" y="2651760"/>
            <a:ext cx="1371600" cy="38404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69080" y="267004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8484A"/>
                </a:solidFill>
              </a:rPr>
              <a:t>Anfitrião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063240"/>
            <a:ext cx="24688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08152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8484A"/>
                </a:solidFill>
              </a:rPr>
              <a:t>maria@email.com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3063240"/>
            <a:ext cx="10972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71800" y="308152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8484A"/>
                </a:solidFill>
              </a:rPr>
              <a:t>123456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23360" y="3063240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69080" y="308152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8484A"/>
                </a:solidFill>
              </a:rPr>
              <a:t>Hóspede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474720"/>
            <a:ext cx="2468880" cy="38404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49300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8484A"/>
                </a:solidFill>
              </a:rPr>
              <a:t>ana@email.com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26080" y="3474720"/>
            <a:ext cx="1097280" cy="38404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71800" y="349300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8484A"/>
                </a:solidFill>
              </a:rPr>
              <a:t>123456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23360" y="3474720"/>
            <a:ext cx="1371600" cy="38404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69080" y="349300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8484A"/>
                </a:solidFill>
              </a:rPr>
              <a:t>Ambos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52160" y="1600200"/>
            <a:ext cx="60350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84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0" y="169164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8484A"/>
                </a:solidFill>
              </a:rPr>
              <a:t>🔍 Filtros de Busca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2240280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8484A"/>
                </a:solidFill>
              </a:rPr>
              <a:t>✓  Filtrar por cidade (ex: São Paulo)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2788920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8484A"/>
                </a:solidFill>
              </a:rPr>
              <a:t>✓  Filtrar por preço máximo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3337560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8484A"/>
                </a:solidFill>
              </a:rPr>
              <a:t>✓  Filtrar por avaliação mínima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0" y="3886200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8484A"/>
                </a:solidFill>
              </a:rPr>
              <a:t>✓  Ver disponibilidade / períodos ocupados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5040" y="4434840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8484A"/>
                </a:solidFill>
              </a:rPr>
              <a:t>✓  Resultado em cards com foto e preço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Demonstração Prática — Parte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CCCC"/>
                </a:solidFill>
              </a:rPr>
              <a:t>Reservas, Dashboard e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00200"/>
            <a:ext cx="3657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484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91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</a:rPr>
              <a:t>1️⃣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6916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5657"/>
                </a:solidFill>
              </a:rPr>
              <a:t>Criar Reserva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9456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8484A"/>
                </a:solidFill>
              </a:rPr>
              <a:t>Selecionar datas, verificar conflito automático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600200"/>
            <a:ext cx="3657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484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79" y="1691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</a:rPr>
              <a:t>2️⃣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16916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5657"/>
                </a:solidFill>
              </a:rPr>
              <a:t>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79" y="219456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8484A"/>
                </a:solidFill>
              </a:rPr>
              <a:t>Hóspede vê reservas ativas / anfitrião vê imóveis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600200"/>
            <a:ext cx="3657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484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691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</a:rPr>
              <a:t>3️⃣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6916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5657"/>
                </a:solidFill>
              </a:rPr>
              <a:t>Cadastrar Imóvel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9456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8484A"/>
                </a:solidFill>
              </a:rPr>
              <a:t>Perfil anfitrião: fotos, preço, cidade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794760"/>
            <a:ext cx="3657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484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886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</a:rPr>
              <a:t>4️⃣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3886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5657"/>
                </a:solidFill>
              </a:rPr>
              <a:t>API REST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3891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8484A"/>
                </a:solidFill>
              </a:rPr>
              <a:t>GET /api/locais  |  POST /api/reservas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3794760"/>
            <a:ext cx="3657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484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79" y="3886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</a:rPr>
              <a:t>5️⃣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79" y="3886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5657"/>
                </a:solidFill>
              </a:rPr>
              <a:t>Relatório XML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79" y="43891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8484A"/>
                </a:solidFill>
              </a:rPr>
              <a:t>GET /api/reservas/relatorio/xml → download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3794760"/>
            <a:ext cx="3657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484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886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</a:rPr>
              <a:t>6️⃣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3886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5657"/>
                </a:solidFill>
              </a:rPr>
              <a:t>CLI interativa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3891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8484A"/>
                </a:solidFill>
              </a:rPr>
              <a:t>start-cli.bat → menu no terminal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Estrutura do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CCCC"/>
                </a:solidFill>
              </a:rPr>
              <a:t>Organização e padrões aplicados — Membro 2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00200"/>
            <a:ext cx="5486400" cy="4572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45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src/main/java/com/airbnbclone/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385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EC8A0"/>
                </a:solidFill>
              </a:rPr>
              <a:t>  ├── AirbnbCloneApplication.java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3113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5657"/>
                </a:solidFill>
              </a:rPr>
              <a:t>  ├── controller/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52374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  │   ├── PropriedadeController.java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16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  │   ├── HospedeController.java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1089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  │   └── ReservaController.java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40156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5657"/>
                </a:solidFill>
              </a:rPr>
              <a:t>  ├── service/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69417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  │   └── ReservaService.java (Streams)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98678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5657"/>
                </a:solidFill>
              </a:rPr>
              <a:t>  ├── model/  ← @Document MongoDB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27939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  ├── repository/  ← MongoRepository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5720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  ├── dto/         ← Request/Response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86460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  ├── util/        ← Annotations+Reflection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15721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  ├── seed/        ← SeedDataLoader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44982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  └── cli/         ← CLI interativa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1600200"/>
            <a:ext cx="58521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5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80760" y="1645920"/>
            <a:ext cx="5669280" cy="47548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166420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5657"/>
                </a:solidFill>
              </a:rPr>
              <a:t>Separação em Camadas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166420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8484A"/>
                </a:solidFill>
              </a:rPr>
              <a:t>Controller → Service → Repository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2167128"/>
            <a:ext cx="56692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2185416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5657"/>
                </a:solidFill>
              </a:rPr>
              <a:t>@RestController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185416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8484A"/>
                </a:solidFill>
              </a:rPr>
              <a:t>Endpoints JSON automáticos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60" y="2688336"/>
            <a:ext cx="5669280" cy="47548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2706624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5657"/>
                </a:solidFill>
              </a:rPr>
              <a:t>@Service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2706624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8484A"/>
                </a:solidFill>
              </a:rPr>
              <a:t>Lógica de negócio isolada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80760" y="3209544"/>
            <a:ext cx="56692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0" y="32278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5657"/>
                </a:solidFill>
              </a:rPr>
              <a:t>MongoRepository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22783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8484A"/>
                </a:solidFill>
              </a:rPr>
              <a:t>CRUD sem SQL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80760" y="3730752"/>
            <a:ext cx="5669280" cy="47548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0" y="374903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5657"/>
                </a:solidFill>
              </a:rPr>
              <a:t>@Document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374903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8484A"/>
                </a:solidFill>
              </a:rPr>
              <a:t>Mapeamento objeto-documento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80760" y="4251959"/>
            <a:ext cx="56692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0" y="427024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5657"/>
                </a:solidFill>
              </a:rPr>
              <a:t>@ValidEmail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427024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8484A"/>
                </a:solidFill>
              </a:rPr>
              <a:t>Annotation customizada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80760" y="4773168"/>
            <a:ext cx="5669280" cy="47548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26480" y="4791456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5657"/>
                </a:solidFill>
              </a:rPr>
              <a:t>Reflection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4791456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8484A"/>
                </a:solidFill>
              </a:rPr>
              <a:t>Validação genérica em util/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80760" y="5294376"/>
            <a:ext cx="56692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26480" y="5312664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5657"/>
                </a:solidFill>
              </a:rPr>
              <a:t>Stream.filter()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5312664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8484A"/>
                </a:solidFill>
              </a:rPr>
              <a:t>Filtros funcionais em Service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Funcionalidades Avançadas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CCCC"/>
                </a:solidFill>
              </a:rPr>
              <a:t>Relatórios XML/TXT e CLI Interativa — Membro 3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00200"/>
            <a:ext cx="5486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84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8484A"/>
                </a:solidFill>
              </a:rPr>
              <a:t>📄 Relatórios Automáticos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5657"/>
                </a:solidFill>
              </a:rPr>
              <a:t>GET /api/reservas/relatorio/xml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004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8484A"/>
                </a:solidFill>
              </a:rPr>
              <a:t>  → Exporta todas as reservas em XML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5409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8484A"/>
                </a:solidFill>
              </a:rPr>
              <a:t>  → Inclui hóspede, imóvel, datas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3814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8484A"/>
                </a:solidFill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22191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5657"/>
                </a:solidFill>
              </a:rPr>
              <a:t>GET /api/reservas/relatorio/txt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062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8484A"/>
                </a:solidFill>
              </a:rPr>
              <a:t>  → Relatório em texto simples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9028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8484A"/>
                </a:solidFill>
              </a:rPr>
              <a:t>  → Pronto para impressão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7433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8484A"/>
                </a:solidFill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358383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8484A"/>
                </a:solidFill>
              </a:rPr>
              <a:t>Gerado via JAXB / StringBuilder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742431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8484A"/>
                </a:solidFill>
              </a:rPr>
              <a:t>Disponível direto no navegador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1600200"/>
            <a:ext cx="58521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84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691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8484A"/>
                </a:solidFill>
              </a:rPr>
              <a:t>💻 CLI Interativa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28600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8484A"/>
                </a:solidFill>
              </a:rPr>
              <a:t>Execução: start-cli.bat (Windows)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633472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8484A"/>
                </a:solidFill>
              </a:rPr>
              <a:t>           ./mvnw spring-boot:run (Linux)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980944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8484A"/>
                </a:solidFill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328416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5657"/>
                </a:solidFill>
              </a:rPr>
              <a:t>Menu principal: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675887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8484A"/>
                </a:solidFill>
              </a:rPr>
              <a:t>  1. Listar imóveis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02336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8484A"/>
                </a:solidFill>
              </a:rPr>
              <a:t>  2. Buscar por cidade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370832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8484A"/>
                </a:solidFill>
              </a:rPr>
              <a:t>  3. Criar reserva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718304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8484A"/>
                </a:solidFill>
              </a:rPr>
              <a:t>  4. Listar reservas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5065776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8484A"/>
                </a:solidFill>
              </a:rPr>
              <a:t>  5. Gerar relatório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5413248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8484A"/>
                </a:solidFill>
              </a:rPr>
              <a:t>  6. Sair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576072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8484A"/>
                </a:solidFill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6108192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8484A"/>
                </a:solidFill>
              </a:rPr>
              <a:t>Alternativa ao frontend para testes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Resultados Alcançados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CCCC"/>
                </a:solidFill>
              </a:rPr>
              <a:t>O que entregamos — Membro 3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45920"/>
            <a:ext cx="3474720" cy="20116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8+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83464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Endpoints
REST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645920"/>
            <a:ext cx="3474720" cy="2011680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8288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83464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Perfis de
Usuário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645920"/>
            <a:ext cx="3474720" cy="20116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18288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83464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Formatos de
Relatório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931920"/>
            <a:ext cx="3474720" cy="2011680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1148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7+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12064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Requisitos
Java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3931920"/>
            <a:ext cx="3474720" cy="201168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0" y="41148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512064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Camadas
de Código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3931920"/>
            <a:ext cx="3474720" cy="2011680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41148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512064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Frontend
React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Aprendizados &amp; Dificuldades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CCCC"/>
                </a:solidFill>
              </a:rPr>
              <a:t>Reflexão crítica — Membro 3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00200"/>
            <a:ext cx="5486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8B57"/>
                </a:solidFill>
              </a:rPr>
              <a:t>✅ Aprendizados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8484A"/>
                </a:solidFill>
              </a:rPr>
              <a:t>✓  Separação de responsabilidades (MVC)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9748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8484A"/>
                </a:solidFill>
              </a:rPr>
              <a:t>✓  Integração Spring Boot + MongoDB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5468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8484A"/>
                </a:solidFill>
              </a:rPr>
              <a:t>✓  Annotations customizadas em Java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1188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8484A"/>
                </a:solidFill>
              </a:rPr>
              <a:t>✓  React + consumo de REST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6908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8484A"/>
                </a:solidFill>
              </a:rPr>
              <a:t>✓  Docker para ambiente de desenvolvimento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2628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8484A"/>
                </a:solidFill>
              </a:rPr>
              <a:t>✓  Tratamento de conflitos de negócio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98348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8484A"/>
                </a:solidFill>
              </a:rPr>
              <a:t>✓  Geração de relatórios programática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600200"/>
            <a:ext cx="58521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5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691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5657"/>
                </a:solidFill>
              </a:rPr>
              <a:t>⚠️ Dificuldades Superadas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24028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8484A"/>
                </a:solidFill>
              </a:rPr>
              <a:t>→  MongoDB no Linux: host.docker.internal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74320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8484A"/>
                </a:solidFill>
              </a:rPr>
              <a:t>→  CORS entre React (5173) e Spring (5000)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24612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8484A"/>
                </a:solidFill>
              </a:rPr>
              <a:t>→  Validação de datas sobrepostas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74904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8484A"/>
                </a:solidFill>
              </a:rPr>
              <a:t>→  Encoding UTF-8 em código Java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25196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8484A"/>
                </a:solidFill>
              </a:rPr>
              <a:t>→  Configuração do Maven Wrapper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75488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8484A"/>
                </a:solidFill>
              </a:rPr>
              <a:t>→  Proxy reverso no Vite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5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94960" y="36576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222222"/>
                </a:solidFill>
              </a:rPr>
              <a:t>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Projeto Concluído com Sucesso!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10360152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8484A"/>
                </a:solidFill>
              </a:rPr>
              <a:t>✅  Todas as camadas de negócio implementadas (Controller → Service → Repository)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8484A"/>
                </a:solidFill>
              </a:rPr>
              <a:t>✅  Requisitos Java avançados: Annotations, Reflection, Collections, Streams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004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8484A"/>
                </a:solidFill>
              </a:rPr>
              <a:t>✅  Aplicação funcional completa: Backend + Frontend + CLI + Relatórios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49039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8484A"/>
                </a:solidFill>
              </a:rPr>
              <a:t>✅  Superamos a proposta inicial com React 19, CLI interativa e relatórios automáticos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663440"/>
            <a:ext cx="10360152" cy="1645920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7548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Obrigado! Ficamos à disposição para perguntas.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Spring Boot 3.2.5  •  MongoDB  •  React 19  •  Java 17+  |  Camada de Negócios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